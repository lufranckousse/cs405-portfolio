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tags/tag13.xml" ContentType="application/vnd.openxmlformats-officedocument.presentationml.tags+xml"/>
  <Override PartName="/ppt/notesSlides/notesSlide16.xml" ContentType="application/vnd.openxmlformats-officedocument.presentationml.notesSlide+xml"/>
  <Override PartName="/ppt/tags/tag14.xml" ContentType="application/vnd.openxmlformats-officedocument.presentationml.tags+xml"/>
  <Override PartName="/ppt/notesSlides/notesSlide17.xml" ContentType="application/vnd.openxmlformats-officedocument.presentationml.notesSlide+xml"/>
  <Override PartName="/ppt/tags/tag15.xml" ContentType="application/vnd.openxmlformats-officedocument.presentationml.tags+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3"/>
  </p:notesMasterIdLst>
  <p:sldIdLst>
    <p:sldId id="256" r:id="rId5"/>
    <p:sldId id="257" r:id="rId6"/>
    <p:sldId id="258" r:id="rId7"/>
    <p:sldId id="259" r:id="rId8"/>
    <p:sldId id="260" r:id="rId9"/>
    <p:sldId id="261" r:id="rId10"/>
    <p:sldId id="262" r:id="rId11"/>
    <p:sldId id="263" r:id="rId12"/>
    <p:sldId id="270" r:id="rId13"/>
    <p:sldId id="271" r:id="rId14"/>
    <p:sldId id="272" r:id="rId15"/>
    <p:sldId id="273" r:id="rId16"/>
    <p:sldId id="264" r:id="rId17"/>
    <p:sldId id="265" r:id="rId18"/>
    <p:sldId id="266" r:id="rId19"/>
    <p:sldId id="267" r:id="rId20"/>
    <p:sldId id="268" r:id="rId21"/>
    <p:sldId id="269" r:id="rId22"/>
  </p:sldIdLst>
  <p:sldSz cx="12192000" cy="6858000"/>
  <p:notesSz cx="6858000" cy="9144000"/>
  <p:embeddedFontLst>
    <p:embeddedFont>
      <p:font typeface="Century Gothic" panose="020B0502020202020204" pitchFamily="34" charset="0"/>
      <p:regular r:id="rId24"/>
      <p:bold r:id="rId25"/>
      <p:italic r:id="rId26"/>
      <p:boldItalic r:id="rId27"/>
    </p:embeddedFont>
  </p:embeddedFontLst>
  <p:custDataLst>
    <p:tags r:id="rId28"/>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9"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332"/>
    <p:restoredTop sz="94744"/>
  </p:normalViewPr>
  <p:slideViewPr>
    <p:cSldViewPr snapToGrid="0">
      <p:cViewPr varScale="1">
        <p:scale>
          <a:sx n="109" d="100"/>
          <a:sy n="109" d="100"/>
        </p:scale>
        <p:origin x="184" y="4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3.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2.fntdata"/><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customschemas.google.com/relationships/presentationmetadata" Target="meta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1.fntdata"/><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gs" Target="tags/tag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font" Target="fonts/font4.fntdata"/><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Hello, my name is Lufranc Kousse </a:t>
            </a:r>
            <a:r>
              <a:rPr lang="en-US" sz="1100" b="0" i="0" u="none" strike="noStrike" cap="none" dirty="0" err="1">
                <a:solidFill>
                  <a:srgbClr val="000000"/>
                </a:solidFill>
                <a:effectLst/>
                <a:latin typeface="Arial"/>
                <a:ea typeface="Arial"/>
                <a:cs typeface="Arial"/>
                <a:sym typeface="Arial"/>
              </a:rPr>
              <a:t>Akodjo</a:t>
            </a:r>
            <a:r>
              <a:rPr lang="en-US" sz="1100" b="0" i="0" u="none" strike="noStrike" cap="none" dirty="0">
                <a:solidFill>
                  <a:srgbClr val="000000"/>
                </a:solidFill>
                <a:effectLst/>
                <a:latin typeface="Arial"/>
                <a:ea typeface="Arial"/>
                <a:cs typeface="Arial"/>
                <a:sym typeface="Arial"/>
              </a:rPr>
              <a:t>. This presentation explains the Green Pace secure development policy, how the policy prioritizes coding risks, and how testing and automation make the controls repeatable. I will cover the ten security principles and coding standards, encryption and Triple-A, unit testing,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automation, risks and benefits, and recommendations for maintaining the policy.</a:t>
            </a:r>
            <a:r>
              <a:rPr lang="en-US" dirty="0">
                <a:effectLst/>
              </a:rPr>
              <a:t> </a:t>
            </a:r>
            <a:endParaRPr dirty="0"/>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Green Pace needs a consistent security policy because secure behavior should not depend on an individual developer remembering a best practice. The policy supports defense in depth by combining multiple controls. Input validation, secure coding standards, authentication, authorization, encryption, testing, logging, and monitoring each protect a different part of the system. If one control fails, another control can still prevent, detect, or limit the problem.</a:t>
            </a:r>
            <a:r>
              <a:rPr lang="en-US" dirty="0">
                <a:effectLst/>
              </a:rPr>
              <a:t> </a:t>
            </a:r>
            <a:endParaRPr dirty="0"/>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threat matrix groups the ten coding standards using the risk assessments from Project One. SQL injection is the highest priority because it received threat level five and can directly affect database confidentiality and integrity. Several likely high-impact issues, including unsafe values, string access, input conversion, integer overflow, memory ownership, and exception handling, are level four. Assertions and resource management are medium-level concerns, while the data-type standard is high severity but less likely. This organization helps the team decide what to fix first instead of treating every warning as equal.</a:t>
            </a:r>
            <a:r>
              <a:rPr lang="en-US" dirty="0">
                <a:effectLst/>
              </a:rPr>
              <a:t> </a:t>
            </a:r>
            <a:endParaRPr dirty="0"/>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These are the ten guiding security principles and their relationship to the coding standards. Validation is the broadest principle because it applies to data types, values, strings, SQL input, numeric conversion, and integer arithmetic. Compiler warnings support type safety, assertions, and integer correctness. Simplicity and secure standards support RAII and exception handling. Default deny and least privilege also extend into the Triple-A authorization policy. The main idea is that the principles explain why the standards exist, while the standards turn those principles into repeatable coding rules.</a:t>
            </a:r>
            <a:r>
              <a:rPr lang="en-US" dirty="0">
                <a:effectLst/>
              </a:rPr>
              <a:t> </a:t>
            </a:r>
            <a:endParaRPr dirty="0"/>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I ranked the coding standards primarily by threat level, then by exploit impact and likelihood. SQL injection is first because it is the only level-five item. Level-four standards follow, with issues that can expose memory, corrupt calculations, bypass validation, or reveal sensitive information placed ahead of lower-severity concerns. Assertions and resource management are level three, and the data-type standard is level two because its likelihood was rated lower. The ranking is a triage system, not permission to ignore lower-ranked findings.</a:t>
            </a:r>
            <a:r>
              <a:rPr lang="en-US" dirty="0">
                <a:effectLst/>
              </a:rPr>
              <a:t> </a:t>
            </a:r>
            <a:endParaRPr dirty="0"/>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encryption strategy protects data in each state. Data in flight uses TLS 1.2 or later with certificate validation. Data at rest uses approved strong encryption such as AES-256, with keys protected separately and rotated. Data in use is harder to protect because the application needs plaintext to process it, so the policy minimizes plaintext lifetime and copies, restricts process privileges, clears sensitive temporary buffers when practical, and allows protected-compute technologies when the threat model requires them.</a:t>
            </a:r>
            <a:r>
              <a:rPr lang="en-US" dirty="0">
                <a:effectLst/>
              </a:rPr>
              <a:t> </a:t>
            </a:r>
            <a:endParaRPr dirty="0"/>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Triple-A means authentication, authorization, and accounting. Authentication proves identity and requires unique identities, secure credential handling, and multifactor authentication for privileged or sensitive access. Authorization determines what that identity can do and follows default deny and least privilege on every protected operation. Accounting creates the audit trail. Green Pace should log login results, privilege changes, new users, database changes, sensitive-file access, and administrative actions, and protect those logs from unauthorized modification.</a:t>
            </a:r>
            <a:r>
              <a:rPr lang="en-US" dirty="0">
                <a:effectLst/>
              </a:rPr>
              <a:t> </a:t>
            </a:r>
            <a:endParaRPr dirty="0"/>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unit-testing portion uses the Google Test work from Module Four. The first positive test asks whether a new collection begins empty. This matters because code that assumes a container has elements can later perform unsafe indexing. The test verifies the empty state and a size of zero. In the completed Module Four suite, the test passed. In a </a:t>
            </a:r>
            <a:r>
              <a:rPr lang="en-US" sz="1100" b="0" i="0" u="none" strike="noStrike" cap="none" dirty="0" err="1">
                <a:solidFill>
                  <a:srgbClr val="000000"/>
                </a:solidFill>
                <a:effectLst/>
                <a:latin typeface="Arial"/>
                <a:ea typeface="Arial"/>
                <a:cs typeface="Arial"/>
                <a:sym typeface="Arial"/>
              </a:rPr>
              <a:t>DevSecOps</a:t>
            </a:r>
            <a:r>
              <a:rPr lang="en-US" sz="1100" b="0" i="0" u="none" strike="noStrike" cap="none" dirty="0">
                <a:solidFill>
                  <a:srgbClr val="000000"/>
                </a:solidFill>
                <a:effectLst/>
                <a:latin typeface="Arial"/>
                <a:ea typeface="Arial"/>
                <a:cs typeface="Arial"/>
                <a:sym typeface="Arial"/>
              </a:rPr>
              <a:t> workflow, this test should run on every build so initialization regressions are caught immediately.</a:t>
            </a:r>
            <a:r>
              <a:rPr lang="en-US" dirty="0">
                <a:effectLst/>
              </a:rPr>
              <a:t> </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second positive test verifies that values can be added while the vector maintains the expected size and contents. This checks normal container behavior before we focus on failure cases. The completed Module Four suite used ASSERT and EXPECT macros to make these conditions observable and the implemented tests passed. A next step would be to add boundary-size cases and repeated operations so the same behavior is tested under more demanding conditions.</a:t>
            </a:r>
            <a:r>
              <a:rPr lang="en-US" dirty="0">
                <a:effectLst/>
              </a:rPr>
              <a:t> </a:t>
            </a:r>
            <a:endParaRPr lang="en-US" dirty="0"/>
          </a:p>
        </p:txBody>
      </p:sp>
    </p:spTree>
    <p:extLst>
      <p:ext uri="{BB962C8B-B14F-4D97-AF65-F5344CB8AC3E}">
        <p14:creationId xmlns:p14="http://schemas.microsoft.com/office/powerpoint/2010/main" val="1898289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third positive test focuses on reserve. Reserve changes capacity but should not change the logical number of elements. My Module Four correction explicitly checked both requirements: capacity must increase to at least the requested amount and size must remain unchanged. This is a good example of a test proving two related conditions instead of checking only that the program continues to run.</a:t>
            </a:r>
            <a:r>
              <a:rPr lang="en-US" dirty="0">
                <a:effectLst/>
              </a:rPr>
              <a:t> </a:t>
            </a:r>
            <a:endParaRPr lang="en-US" dirty="0"/>
          </a:p>
        </p:txBody>
      </p:sp>
    </p:spTree>
    <p:extLst>
      <p:ext uri="{BB962C8B-B14F-4D97-AF65-F5344CB8AC3E}">
        <p14:creationId xmlns:p14="http://schemas.microsoft.com/office/powerpoint/2010/main" val="15281467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This negative test checks out-of-range access. Using vector at with an invalid index should throw std::</a:t>
            </a:r>
            <a:r>
              <a:rPr lang="en-US" sz="1100" b="0" i="0" u="none" strike="noStrike" cap="none" dirty="0" err="1">
                <a:solidFill>
                  <a:srgbClr val="000000"/>
                </a:solidFill>
                <a:effectLst/>
                <a:latin typeface="Arial"/>
                <a:ea typeface="Arial"/>
                <a:cs typeface="Arial"/>
                <a:sym typeface="Arial"/>
              </a:rPr>
              <a:t>out_of_range</a:t>
            </a:r>
            <a:r>
              <a:rPr lang="en-US" sz="1100" b="0" i="0" u="none" strike="noStrike" cap="none" dirty="0">
                <a:solidFill>
                  <a:srgbClr val="000000"/>
                </a:solidFill>
                <a:effectLst/>
                <a:latin typeface="Arial"/>
                <a:ea typeface="Arial"/>
                <a:cs typeface="Arial"/>
                <a:sym typeface="Arial"/>
              </a:rPr>
              <a:t> instead of allowing unchecked access. EXPECT_THROW makes the expected failure behavior explicit. This connects directly to the Green Pace data-value and string-correctness policies because bounds must be validated before element access. Boundary indexes and sanitizer runs can extend this test further.</a:t>
            </a:r>
            <a:r>
              <a:rPr lang="en-US" dirty="0">
                <a:effectLst/>
              </a:rPr>
              <a:t> </a:t>
            </a:r>
            <a:endParaRPr lang="en-US" dirty="0"/>
          </a:p>
        </p:txBody>
      </p:sp>
    </p:spTree>
    <p:extLst>
      <p:ext uri="{BB962C8B-B14F-4D97-AF65-F5344CB8AC3E}">
        <p14:creationId xmlns:p14="http://schemas.microsoft.com/office/powerpoint/2010/main" val="18246262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100" b="0" i="0" u="none" strike="noStrike" cap="none" dirty="0">
                <a:solidFill>
                  <a:srgbClr val="000000"/>
                </a:solidFill>
                <a:effectLst/>
                <a:latin typeface="Arial"/>
                <a:ea typeface="Arial"/>
                <a:cs typeface="Arial"/>
                <a:sym typeface="Arial"/>
              </a:rPr>
              <a:t>The Module Four feedback identified an important improvement: my two custom negative tests produced the same exception, so they did not represent two distinct failure modes. For Project Two, I would strengthen the test plan with a different negative condition, such as rejecting invalid input through a failure status or validation result instead of repeating the same out-of-range exception. This makes negative testing more meaningful because it verifies graceful failure across different error paths.</a:t>
            </a:r>
            <a:r>
              <a:rPr lang="en-US" dirty="0">
                <a:effectLst/>
              </a:rPr>
              <a:t> </a:t>
            </a:r>
            <a:endParaRPr lang="en-US" dirty="0"/>
          </a:p>
        </p:txBody>
      </p:sp>
    </p:spTree>
    <p:extLst>
      <p:ext uri="{BB962C8B-B14F-4D97-AF65-F5344CB8AC3E}">
        <p14:creationId xmlns:p14="http://schemas.microsoft.com/office/powerpoint/2010/main" val="1750378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This diagram shows where security belongs in the delivery lifecycle. Green Pace should move security left into pre-production while continuing to monitor production. Planning defines security requirements, design establishes trust boundaries, build enables compiler and static-analysis checks, and verify and test runs vulnerability scanning and unit tests. Production still needs monitoring, detection, response, and stabilization. Security is therefore continuous rather than a final gate.</a:t>
            </a:r>
            <a:r>
              <a:rPr lang="en-US" dirty="0">
                <a:effectLst/>
              </a:rPr>
              <a:t> </a:t>
            </a:r>
            <a:endParaRPr dirty="0"/>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automation strategy places specific tools at each stage. During create and build, developers use compiler warnings, Visual Studio code analysis, and local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During verify and test, continuous integration runs </a:t>
            </a:r>
            <a:r>
              <a:rPr lang="en-US" sz="1100" b="0" i="0" u="none" strike="noStrike" cap="none" dirty="0" err="1">
                <a:solidFill>
                  <a:srgbClr val="000000"/>
                </a:solidFill>
                <a:effectLst/>
                <a:latin typeface="Arial"/>
                <a:ea typeface="Arial"/>
                <a:cs typeface="Arial"/>
                <a:sym typeface="Arial"/>
              </a:rPr>
              <a:t>Cppcheck</a:t>
            </a:r>
            <a:r>
              <a:rPr lang="en-US" sz="1100" b="0" i="0" u="none" strike="noStrike" cap="none" dirty="0">
                <a:solidFill>
                  <a:srgbClr val="000000"/>
                </a:solidFill>
                <a:effectLst/>
                <a:latin typeface="Arial"/>
                <a:ea typeface="Arial"/>
                <a:cs typeface="Arial"/>
                <a:sym typeface="Arial"/>
              </a:rPr>
              <a:t> or SAST, Google Test positive and negative tests, and selected sanitizers. High-priority failures block the merge or release unless an approved exception is documented. Reports are preserved for audit evidence, while production logging and alerting confirm that controls remain effective after deployment.</a:t>
            </a:r>
            <a:r>
              <a:rPr lang="en-US" dirty="0">
                <a:effectLst/>
              </a:rPr>
              <a:t> </a:t>
            </a:r>
            <a:endParaRPr dirty="0"/>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largest benefit of acting now is reducing exposure before vulnerable code reaches production. SQL injection should be addressed first because it is the only level-five threat. Level-four memory, bounds, validation, arithmetic, and exception issues follow. Waiting increases remediation cost because the vulnerable behavior can spread into more components and become harder to change. Automation also has a limitation: static-analysis tools can generate noise or false positives, so developers still need to review findings rather than treating every tool message as a confirmed vulnerability.</a:t>
            </a:r>
            <a:r>
              <a:rPr lang="en-US" dirty="0">
                <a:effectLst/>
              </a:rPr>
              <a:t> </a:t>
            </a:r>
            <a:endParaRPr dirty="0"/>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The current policy can be improved in several areas. Negative testing should cover distinct failure modes. Dynamic analysis, sanitizers, and dependency scanning should complement static analysis. CI/CD needs measurable security gates and time-limited exceptions. Cryptographic configuration and key rotation should be reviewed regularly. Authorization should be tested on every protected operation, and application audit events should be correlated with the operating system, firewall, and anti-malware logs Green Pace already collects.</a:t>
            </a:r>
            <a:r>
              <a:rPr lang="en-US" dirty="0">
                <a:effectLst/>
              </a:rPr>
              <a:t> </a:t>
            </a:r>
            <a:endParaRPr dirty="0"/>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sz="1100" b="0" i="0" u="none" strike="noStrike" cap="none" dirty="0">
                <a:solidFill>
                  <a:srgbClr val="000000"/>
                </a:solidFill>
                <a:effectLst/>
                <a:latin typeface="Arial"/>
                <a:ea typeface="Arial"/>
                <a:cs typeface="Arial"/>
                <a:sym typeface="Arial"/>
              </a:rPr>
              <a:t>My recommendation is to keep the ten standards but enforce them continuously. Green Pace should use SEI CERT C++ guidance such as STR53-CPP, parameterized SQL, strict validation, RAII, safe exception handling, strong encryption, and Triple-A access controls. Automated static analysis and unit testing should be required in the pipeline. The larger principle is that security cannot be postponed until the end of development. It has to be part of design, implementation, testing, release, and operations.</a:t>
            </a:r>
            <a:r>
              <a:rPr lang="en-US" dirty="0">
                <a:effectLst/>
              </a:rPr>
              <a:t> </a:t>
            </a:r>
            <a:endParaRPr dirty="0"/>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xml"/><Relationship Id="rId5" Type="http://schemas.openxmlformats.org/officeDocument/2006/relationships/image" Target="../media/image5.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1.png"/><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4.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5.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defRPr sz="2000" b="0">
                <a:solidFill>
                  <a:srgbClr val="F5F5F5"/>
                </a:solidFill>
                <a:latin typeface="Aptos"/>
              </a:defRPr>
            </a:pPr>
            <a:r>
              <a:t>Security Policy Presentation</a:t>
            </a:r>
          </a:p>
          <a:p>
            <a:pPr>
              <a:defRPr sz="2000" b="0">
                <a:solidFill>
                  <a:srgbClr val="F5F5F5"/>
                </a:solidFill>
                <a:latin typeface="Aptos"/>
              </a:defRPr>
            </a:pPr>
            <a:r>
              <a:t>Developer: Lufranc Kousse Akodjo</a:t>
            </a:r>
          </a:p>
          <a:p>
            <a:pPr>
              <a:defRPr sz="2000" b="0">
                <a:solidFill>
                  <a:srgbClr val="F5F5F5"/>
                </a:solidFill>
                <a:latin typeface="Aptos"/>
              </a:defRPr>
            </a:pPr>
            <a:r>
              <a:t>CS 405 Secure Coding | Project Two</a:t>
            </a:r>
          </a:p>
        </p:txBody>
      </p:sp>
      <p:pic>
        <p:nvPicPr>
          <p:cNvPr id="146" name="Google Shape;146;p1"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7440774" y="659854"/>
            <a:ext cx="2921424" cy="3786772"/>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9016"/>
    </mc:Choice>
    <mc:Fallback xmlns="">
      <p:transition spd="slow" advTm="4901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685800" lvl="0" indent="0" algn="l" rtl="0">
              <a:lnSpc>
                <a:spcPct val="90000"/>
              </a:lnSpc>
              <a:spcBef>
                <a:spcPts val="0"/>
              </a:spcBef>
              <a:spcAft>
                <a:spcPts val="0"/>
              </a:spcAft>
              <a:buSzPts val="1800"/>
              <a:buNone/>
              <a:defRPr sz="1800" b="0">
                <a:solidFill>
                  <a:srgbClr val="F5F5F5"/>
                </a:solidFill>
                <a:latin typeface="Aptos"/>
              </a:defRPr>
            </a:pPr>
            <a:r>
              <a:t>Green Pace needs one repeatable secure-development policy so security is built into design, coding, testing, release, and operations.</a:t>
            </a:r>
            <a:endParaRPr sz="1600"/>
          </a:p>
          <a:p>
            <a:pPr>
              <a:defRPr sz="1800" b="0">
                <a:solidFill>
                  <a:srgbClr val="F5F5F5"/>
                </a:solidFill>
                <a:latin typeface="Aptos"/>
              </a:defRPr>
            </a:pPr>
            <a:endParaRPr sz="1600"/>
          </a:p>
          <a:p>
            <a:pPr>
              <a:defRPr sz="1800" b="0">
                <a:solidFill>
                  <a:srgbClr val="F5F5F5"/>
                </a:solidFill>
                <a:latin typeface="Aptos"/>
              </a:defRPr>
            </a:pPr>
            <a:r>
              <a:t>Defense in depth layers validation, secure coding, authentication, authorization, encryption, automated testing, logging, and monitoring so one failed control does not expose the system.</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3242882" y="3754503"/>
            <a:ext cx="5284110" cy="2835248"/>
          </a:xfrm>
          <a:prstGeom prst="rect">
            <a:avLst/>
          </a:prstGeom>
          <a:noFill/>
          <a:ln>
            <a:noFill/>
          </a:ln>
        </p:spPr>
      </p:pic>
      <p:pic>
        <p:nvPicPr>
          <p:cNvPr id="154" name="Google Shape;154;p3" descr="Green Pace logo"/>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42798"/>
    </mc:Choice>
    <mc:Fallback xmlns="">
      <p:transition spd="slow" advTm="42798"/>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defRPr sz="3000" b="0">
                <a:solidFill>
                  <a:srgbClr val="F5F5F5"/>
                </a:solidFill>
                <a:latin typeface="Aptos"/>
              </a:defRPr>
            </a:pPr>
            <a:r>
              <a:t>THREATS MATRIX</a:t>
            </a:r>
          </a:p>
        </p:txBody>
      </p:sp>
      <p:pic>
        <p:nvPicPr>
          <p:cNvPr id="162" name="Google Shape;162;p4"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163" name="Rounded Rectangle 162"/>
          <p:cNvSpPr/>
          <p:nvPr/>
        </p:nvSpPr>
        <p:spPr>
          <a:xfrm>
            <a:off x="640080" y="1645920"/>
            <a:ext cx="2651760" cy="1417320"/>
          </a:xfrm>
          <a:prstGeom prst="roundRect">
            <a:avLst/>
          </a:prstGeom>
          <a:solidFill>
            <a:srgbClr val="373723"/>
          </a:solidFill>
          <a:ln>
            <a:solidFill>
              <a:srgbClr val="A08C3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FFD75A"/>
                </a:solidFill>
                <a:latin typeface="Aptos"/>
              </a:defRPr>
            </a:pPr>
            <a:r>
              <a:t>LIKELY</a:t>
            </a:r>
            <a:br/>
            <a:r>
              <a:t>STD-002, 003, 008</a:t>
            </a:r>
            <a:br/>
            <a:r>
              <a:t>High impact; low-cost fixes</a:t>
            </a:r>
          </a:p>
        </p:txBody>
      </p:sp>
      <p:sp>
        <p:nvSpPr>
          <p:cNvPr id="164" name="Rounded Rectangle 163"/>
          <p:cNvSpPr/>
          <p:nvPr/>
        </p:nvSpPr>
        <p:spPr>
          <a:xfrm>
            <a:off x="3474720" y="1645920"/>
            <a:ext cx="2743200" cy="1417320"/>
          </a:xfrm>
          <a:prstGeom prst="roundRect">
            <a:avLst/>
          </a:prstGeom>
          <a:solidFill>
            <a:srgbClr val="412323"/>
          </a:solidFill>
          <a:ln>
            <a:solidFill>
              <a:srgbClr val="AA504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800" b="1">
                <a:solidFill>
                  <a:srgbClr val="E67864"/>
                </a:solidFill>
                <a:latin typeface="Aptos"/>
              </a:defRPr>
            </a:pPr>
            <a:r>
              <a:t>PRIORITY</a:t>
            </a:r>
            <a:br/>
            <a:r>
              <a:t>STD-004, 005, 007, 009</a:t>
            </a:r>
            <a:br/>
            <a:r>
              <a:t>High impact + likely exposure</a:t>
            </a:r>
          </a:p>
        </p:txBody>
      </p:sp>
      <p:sp>
        <p:nvSpPr>
          <p:cNvPr id="165" name="Rounded Rectangle 164"/>
          <p:cNvSpPr/>
          <p:nvPr/>
        </p:nvSpPr>
        <p:spPr>
          <a:xfrm>
            <a:off x="640080" y="3337560"/>
            <a:ext cx="2651760" cy="1417320"/>
          </a:xfrm>
          <a:prstGeom prst="roundRect">
            <a:avLst/>
          </a:prstGeom>
          <a:solidFill>
            <a:srgbClr val="233223"/>
          </a:solidFill>
          <a:ln>
            <a:solidFill>
              <a:srgbClr val="5A96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79AA58"/>
                </a:solidFill>
                <a:latin typeface="Aptos"/>
              </a:defRPr>
            </a:pPr>
            <a:r>
              <a:t>LOW PRIORITY</a:t>
            </a:r>
            <a:br/>
            <a:r>
              <a:t>STD-006, 010</a:t>
            </a:r>
            <a:br/>
            <a:r>
              <a:t>Medium severity; low-cost fixes</a:t>
            </a:r>
          </a:p>
        </p:txBody>
      </p:sp>
      <p:sp>
        <p:nvSpPr>
          <p:cNvPr id="166" name="Rounded Rectangle 165"/>
          <p:cNvSpPr/>
          <p:nvPr/>
        </p:nvSpPr>
        <p:spPr>
          <a:xfrm>
            <a:off x="3474720" y="3337560"/>
            <a:ext cx="2743200" cy="1417320"/>
          </a:xfrm>
          <a:prstGeom prst="roundRect">
            <a:avLst/>
          </a:prstGeom>
          <a:solidFill>
            <a:srgbClr val="232D37"/>
          </a:solidFill>
          <a:ln>
            <a:solidFill>
              <a:srgbClr val="5082A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700" b="1">
                <a:solidFill>
                  <a:srgbClr val="64BED2"/>
                </a:solidFill>
                <a:latin typeface="Aptos"/>
              </a:defRPr>
            </a:pPr>
            <a:r>
              <a:t>UNLIKELY</a:t>
            </a:r>
            <a:br/>
            <a:r>
              <a:t>STD-001</a:t>
            </a:r>
            <a:br/>
            <a:r>
              <a:t>High severity but lower likelihood</a:t>
            </a:r>
          </a:p>
        </p:txBody>
      </p:sp>
      <p:sp>
        <p:nvSpPr>
          <p:cNvPr id="167" name="Rounded Rectangle 166"/>
          <p:cNvSpPr/>
          <p:nvPr/>
        </p:nvSpPr>
        <p:spPr>
          <a:xfrm>
            <a:off x="6446520" y="1737360"/>
            <a:ext cx="2148840" cy="2880360"/>
          </a:xfrm>
          <a:prstGeom prst="roundRect">
            <a:avLst/>
          </a:prstGeom>
          <a:solidFill>
            <a:srgbClr val="141414"/>
          </a:solidFill>
          <a:ln>
            <a:solidFill>
              <a:srgbClr val="5A5A5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0">
                <a:solidFill>
                  <a:srgbClr val="F5F5F5"/>
                </a:solidFill>
                <a:latin typeface="Aptos"/>
              </a:defRPr>
            </a:pPr>
            <a:r>
              <a:t>Threat level uses severity, likelihood, remediation cost, and priority.</a:t>
            </a:r>
            <a:br/>
            <a:br/>
            <a:r>
              <a:t>Level 5 = greatest threat.</a:t>
            </a:r>
            <a:br/>
            <a:r>
              <a:t>Levels 4 = high priority.</a:t>
            </a:r>
            <a:br/>
            <a:r>
              <a:t>Levels 2–3 = monitor and remediate.</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2276"/>
    </mc:Choice>
    <mc:Fallback xmlns="">
      <p:transition spd="slow" advTm="5227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defRPr sz="1400" b="0">
                <a:solidFill>
                  <a:srgbClr val="F5F5F5"/>
                </a:solidFill>
                <a:latin typeface="Aptos"/>
              </a:defRPr>
            </a:pPr>
            <a:r>
              <a:t>1 Validate Input Data — STD-001, 002, 003, 004, 008, 009</a:t>
            </a:r>
          </a:p>
          <a:p>
            <a:pPr>
              <a:defRPr sz="1400" b="0">
                <a:solidFill>
                  <a:srgbClr val="F5F5F5"/>
                </a:solidFill>
                <a:latin typeface="Aptos"/>
              </a:defRPr>
            </a:pPr>
            <a:r>
              <a:t>2 Heed Compiler Warnings — STD-001, 006, 009</a:t>
            </a:r>
          </a:p>
          <a:p>
            <a:pPr>
              <a:defRPr sz="1400" b="0">
                <a:solidFill>
                  <a:srgbClr val="F5F5F5"/>
                </a:solidFill>
                <a:latin typeface="Aptos"/>
              </a:defRPr>
            </a:pPr>
            <a:r>
              <a:t>3 Architect/Design for Security — STD-004, 005, 007, 010</a:t>
            </a:r>
          </a:p>
          <a:p>
            <a:pPr>
              <a:defRPr sz="1400" b="0">
                <a:solidFill>
                  <a:srgbClr val="F5F5F5"/>
                </a:solidFill>
                <a:latin typeface="Aptos"/>
              </a:defRPr>
            </a:pPr>
            <a:r>
              <a:t>4 Keep It Simple — STD-005, 007, 010</a:t>
            </a:r>
          </a:p>
          <a:p>
            <a:pPr>
              <a:defRPr sz="1400" b="0">
                <a:solidFill>
                  <a:srgbClr val="F5F5F5"/>
                </a:solidFill>
                <a:latin typeface="Aptos"/>
              </a:defRPr>
            </a:pPr>
            <a:r>
              <a:t>5 Default Deny — STD-008 + access-control policy</a:t>
            </a:r>
          </a:p>
          <a:p>
            <a:pPr>
              <a:defRPr sz="1400" b="0">
                <a:solidFill>
                  <a:srgbClr val="F5F5F5"/>
                </a:solidFill>
                <a:latin typeface="Aptos"/>
              </a:defRPr>
            </a:pPr>
            <a:r>
              <a:t>6 Least Privilege — STD-005, 010 + authorization policy</a:t>
            </a:r>
          </a:p>
          <a:p>
            <a:pPr>
              <a:defRPr sz="1400" b="0">
                <a:solidFill>
                  <a:srgbClr val="F5F5F5"/>
                </a:solidFill>
                <a:latin typeface="Aptos"/>
              </a:defRPr>
            </a:pPr>
            <a:r>
              <a:t>7 Sanitize Data Sent to Other Systems — STD-004</a:t>
            </a:r>
          </a:p>
          <a:p>
            <a:pPr>
              <a:defRPr sz="1400" b="0">
                <a:solidFill>
                  <a:srgbClr val="F5F5F5"/>
                </a:solidFill>
                <a:latin typeface="Aptos"/>
              </a:defRPr>
            </a:pPr>
            <a:r>
              <a:t>8 Defense in Depth — STD-002, 004, 007, 010</a:t>
            </a:r>
          </a:p>
          <a:p>
            <a:pPr>
              <a:defRPr sz="1400" b="0">
                <a:solidFill>
                  <a:srgbClr val="F5F5F5"/>
                </a:solidFill>
                <a:latin typeface="Aptos"/>
              </a:defRPr>
            </a:pPr>
            <a:r>
              <a:t>9 Effective QA Techniques — STD-006, 007</a:t>
            </a:r>
          </a:p>
          <a:p>
            <a:pPr>
              <a:defRPr sz="1400" b="0">
                <a:solidFill>
                  <a:srgbClr val="F5F5F5"/>
                </a:solidFill>
                <a:latin typeface="Aptos"/>
              </a:defRPr>
            </a:pPr>
            <a:r>
              <a:t>10 Adopt a Secure Coding Standard — STD-003, 005, 009</a:t>
            </a:r>
          </a:p>
        </p:txBody>
      </p:sp>
      <p:pic>
        <p:nvPicPr>
          <p:cNvPr id="169" name="Google Shape;169;p5"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6866"/>
    </mc:Choice>
    <mc:Fallback xmlns="">
      <p:transition spd="slow" advTm="66866"/>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lt1"/>
              </a:buClr>
              <a:buSzPts val="2000"/>
              <a:buChar char="•"/>
              <a:defRPr sz="1500" b="0">
                <a:solidFill>
                  <a:srgbClr val="F5F5F5"/>
                </a:solidFill>
                <a:latin typeface="Aptos"/>
              </a:defRPr>
            </a:pPr>
            <a:r>
              <a:t>Priority order (highest risk first)</a:t>
            </a:r>
          </a:p>
          <a:p>
            <a:pPr>
              <a:defRPr sz="1500" b="0">
                <a:solidFill>
                  <a:srgbClr val="F5F5F5"/>
                </a:solidFill>
                <a:latin typeface="Aptos"/>
              </a:defRPr>
            </a:pPr>
            <a:r>
              <a:t>1. STD-004 SQL Injection — Level 5</a:t>
            </a:r>
          </a:p>
          <a:p>
            <a:pPr>
              <a:defRPr sz="1500" b="0">
                <a:solidFill>
                  <a:srgbClr val="F5F5F5"/>
                </a:solidFill>
                <a:latin typeface="Aptos"/>
              </a:defRPr>
            </a:pPr>
            <a:r>
              <a:t>2. STD-002 Data Value — Level 4</a:t>
            </a:r>
          </a:p>
          <a:p>
            <a:pPr>
              <a:defRPr sz="1500" b="0">
                <a:solidFill>
                  <a:srgbClr val="F5F5F5"/>
                </a:solidFill>
                <a:latin typeface="Aptos"/>
              </a:defRPr>
            </a:pPr>
            <a:r>
              <a:t>3. STD-003 String Correctness / STR53-CPP — Level 4</a:t>
            </a:r>
          </a:p>
          <a:p>
            <a:pPr>
              <a:defRPr sz="1500" b="0">
                <a:solidFill>
                  <a:srgbClr val="F5F5F5"/>
                </a:solidFill>
                <a:latin typeface="Aptos"/>
              </a:defRPr>
            </a:pPr>
            <a:r>
              <a:t>4. STD-008 Input Validation — Level 4</a:t>
            </a:r>
          </a:p>
          <a:p>
            <a:pPr>
              <a:defRPr sz="1500" b="0">
                <a:solidFill>
                  <a:srgbClr val="F5F5F5"/>
                </a:solidFill>
                <a:latin typeface="Aptos"/>
              </a:defRPr>
            </a:pPr>
            <a:r>
              <a:t>5. STD-009 Integer Overflow — Level 4</a:t>
            </a:r>
          </a:p>
          <a:p>
            <a:pPr>
              <a:defRPr sz="1500" b="0">
                <a:solidFill>
                  <a:srgbClr val="F5F5F5"/>
                </a:solidFill>
                <a:latin typeface="Aptos"/>
              </a:defRPr>
            </a:pPr>
            <a:r>
              <a:t>6. STD-005 Memory Protection — Level 4</a:t>
            </a:r>
          </a:p>
          <a:p>
            <a:pPr>
              <a:defRPr sz="1500" b="0">
                <a:solidFill>
                  <a:srgbClr val="F5F5F5"/>
                </a:solidFill>
                <a:latin typeface="Aptos"/>
              </a:defRPr>
            </a:pPr>
            <a:r>
              <a:t>7. STD-007 Exceptions — Level 4</a:t>
            </a:r>
          </a:p>
          <a:p>
            <a:pPr>
              <a:defRPr sz="1500" b="0">
                <a:solidFill>
                  <a:srgbClr val="F5F5F5"/>
                </a:solidFill>
                <a:latin typeface="Aptos"/>
              </a:defRPr>
            </a:pPr>
            <a:r>
              <a:t>8. STD-006 Assertions — Level 3</a:t>
            </a:r>
          </a:p>
          <a:p>
            <a:pPr>
              <a:defRPr sz="1500" b="0">
                <a:solidFill>
                  <a:srgbClr val="F5F5F5"/>
                </a:solidFill>
                <a:latin typeface="Aptos"/>
              </a:defRPr>
            </a:pPr>
            <a:r>
              <a:t>9. STD-010 Resource Management — Level 3</a:t>
            </a:r>
          </a:p>
          <a:p>
            <a:pPr>
              <a:defRPr sz="1500" b="0">
                <a:solidFill>
                  <a:srgbClr val="F5F5F5"/>
                </a:solidFill>
                <a:latin typeface="Aptos"/>
              </a:defRPr>
            </a:pPr>
            <a:r>
              <a:t>10. STD-001 Data Type — Level 2</a:t>
            </a:r>
          </a:p>
          <a:p>
            <a:pPr>
              <a:defRPr sz="1500" b="0">
                <a:solidFill>
                  <a:srgbClr val="F5F5F5"/>
                </a:solidFill>
                <a:latin typeface="Aptos"/>
              </a:defRPr>
            </a:pPr>
            <a:endParaRPr/>
          </a:p>
          <a:p>
            <a:pPr>
              <a:defRPr sz="1500" b="0">
                <a:solidFill>
                  <a:srgbClr val="F5F5F5"/>
                </a:solidFill>
                <a:latin typeface="Aptos"/>
              </a:defRPr>
            </a:pPr>
            <a:r>
              <a:t>Ranking emphasizes exploit impact and likelihood, then remediation cost.</a:t>
            </a:r>
          </a:p>
        </p:txBody>
      </p:sp>
      <p:pic>
        <p:nvPicPr>
          <p:cNvPr id="176" name="Google Shape;176;p6"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3321"/>
    </mc:Choice>
    <mc:Fallback xmlns="">
      <p:transition spd="slow" advTm="6332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defRPr sz="1700" b="0">
                <a:solidFill>
                  <a:srgbClr val="F5F5F5"/>
                </a:solidFill>
                <a:latin typeface="Aptos"/>
              </a:defRPr>
            </a:pPr>
            <a:r>
              <a:t>IN FLIGHT — TLS 1.2+ with certificate validation for protected traffic crossing process, host, network, or trust boundaries.</a:t>
            </a:r>
            <a:endParaRPr sz="1600"/>
          </a:p>
          <a:p>
            <a:pPr>
              <a:defRPr sz="1700" b="0">
                <a:solidFill>
                  <a:srgbClr val="F5F5F5"/>
                </a:solidFill>
                <a:latin typeface="Aptos"/>
              </a:defRPr>
            </a:pPr>
            <a:endParaRPr sz="1600"/>
          </a:p>
          <a:p>
            <a:pPr>
              <a:defRPr sz="1700" b="0">
                <a:solidFill>
                  <a:srgbClr val="F5F5F5"/>
                </a:solidFill>
                <a:latin typeface="Aptos"/>
              </a:defRPr>
            </a:pPr>
            <a:r>
              <a:t>AT REST — Approved strong encryption such as AES-256 for sensitive databases, disks, backups, cloud storage, and removable media; keys protected separately and rotated.</a:t>
            </a:r>
          </a:p>
          <a:p>
            <a:pPr>
              <a:defRPr sz="1700" b="0">
                <a:solidFill>
                  <a:srgbClr val="F5F5F5"/>
                </a:solidFill>
                <a:latin typeface="Aptos"/>
              </a:defRPr>
            </a:pPr>
            <a:endParaRPr/>
          </a:p>
          <a:p>
            <a:pPr>
              <a:defRPr sz="1700" b="0">
                <a:solidFill>
                  <a:srgbClr val="F5F5F5"/>
                </a:solidFill>
                <a:latin typeface="Aptos"/>
              </a:defRPr>
            </a:pPr>
            <a:r>
              <a:t>IN USE — Minimize plaintext lifetime and copies, restrict process privileges, clear sensitive temporary buffers when practical, and use protected/confidential computing when required.</a:t>
            </a:r>
          </a:p>
        </p:txBody>
      </p:sp>
      <p:pic>
        <p:nvPicPr>
          <p:cNvPr id="183" name="Google Shape;183;p7"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1810"/>
    </mc:Choice>
    <mc:Fallback xmlns="">
      <p:transition spd="slow" advTm="5181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1736901"/>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400"/>
              <a:buChar char="•"/>
              <a:defRPr sz="1800" b="0">
                <a:solidFill>
                  <a:srgbClr val="F5F5F5"/>
                </a:solidFill>
                <a:latin typeface="Aptos"/>
              </a:defRPr>
            </a:pPr>
            <a:r>
              <a:rPr dirty="0"/>
              <a:t>AUTHENTICATION — Unique identities, secure credential handling, and MFA for privileged or sensitive access.</a:t>
            </a:r>
          </a:p>
          <a:p>
            <a:pPr>
              <a:defRPr sz="1800" b="0">
                <a:solidFill>
                  <a:srgbClr val="F5F5F5"/>
                </a:solidFill>
                <a:latin typeface="Aptos"/>
              </a:defRPr>
            </a:pPr>
            <a:endParaRPr dirty="0"/>
          </a:p>
          <a:p>
            <a:pPr>
              <a:defRPr sz="1800" b="0">
                <a:solidFill>
                  <a:srgbClr val="F5F5F5"/>
                </a:solidFill>
                <a:latin typeface="Aptos"/>
              </a:defRPr>
            </a:pPr>
            <a:r>
              <a:rPr dirty="0"/>
              <a:t>AUTHORIZATION — Default deny + least privilege. Check role/attribute permissions for every protected operation.</a:t>
            </a:r>
          </a:p>
          <a:p>
            <a:pPr>
              <a:defRPr sz="1800" b="0">
                <a:solidFill>
                  <a:srgbClr val="F5F5F5"/>
                </a:solidFill>
                <a:latin typeface="Aptos"/>
              </a:defRPr>
            </a:pPr>
            <a:endParaRPr dirty="0"/>
          </a:p>
          <a:p>
            <a:pPr>
              <a:defRPr sz="1800" b="0">
                <a:solidFill>
                  <a:srgbClr val="F5F5F5"/>
                </a:solidFill>
                <a:latin typeface="Aptos"/>
              </a:defRPr>
            </a:pPr>
            <a:r>
              <a:rPr dirty="0"/>
              <a:t>ACCOUNTING — Protect and retain audit logs for successful/failed logins, privilege changes, new users, database changes, sensitive-file access, and administrative actions.</a:t>
            </a:r>
          </a:p>
        </p:txBody>
      </p:sp>
      <p:pic>
        <p:nvPicPr>
          <p:cNvPr id="190" name="Google Shape;190;p8"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5156"/>
    </mc:Choice>
    <mc:Fallback xmlns="">
      <p:transition spd="slow" advTm="55156"/>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defRPr sz="3000" b="0">
                <a:solidFill>
                  <a:srgbClr val="F5F5F5"/>
                </a:solidFill>
                <a:latin typeface="Aptos"/>
              </a:defRPr>
            </a:pPr>
            <a:r>
              <a:t>Does a new collection start empty?</a:t>
            </a:r>
          </a:p>
        </p:txBody>
      </p:sp>
      <p:sp>
        <p:nvSpPr>
          <p:cNvPr id="196" name="Google Shape;196;g9504e29505_0_0"/>
          <p:cNvSpPr txBox="1">
            <a:spLocks noGrp="1"/>
          </p:cNvSpPr>
          <p:nvPr>
            <p:ph type="body" idx="1"/>
          </p:nvPr>
        </p:nvSpPr>
        <p:spPr>
          <a:xfrm>
            <a:off x="775447" y="173685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defRPr sz="1700" b="0">
                <a:solidFill>
                  <a:srgbClr val="F5F5F5"/>
                </a:solidFill>
                <a:latin typeface="Aptos"/>
              </a:defRPr>
            </a:pPr>
            <a:r>
              <a:rPr dirty="0"/>
              <a:t>Vulnerability focus: unsafe state assumptions / bounds use</a:t>
            </a:r>
          </a:p>
          <a:p>
            <a:pPr>
              <a:defRPr sz="1700" b="0">
                <a:solidFill>
                  <a:srgbClr val="F5F5F5"/>
                </a:solidFill>
                <a:latin typeface="Aptos"/>
              </a:defRPr>
            </a:pPr>
            <a:r>
              <a:rPr dirty="0"/>
              <a:t>Type: Positive</a:t>
            </a:r>
          </a:p>
          <a:p>
            <a:pPr>
              <a:defRPr sz="1700" b="0">
                <a:solidFill>
                  <a:srgbClr val="F5F5F5"/>
                </a:solidFill>
                <a:latin typeface="Aptos"/>
              </a:defRPr>
            </a:pPr>
            <a:r>
              <a:rPr dirty="0"/>
              <a:t>Framework: Google Test</a:t>
            </a:r>
          </a:p>
          <a:p>
            <a:pPr>
              <a:defRPr sz="1700" b="0">
                <a:solidFill>
                  <a:srgbClr val="F5F5F5"/>
                </a:solidFill>
                <a:latin typeface="Aptos"/>
              </a:defRPr>
            </a:pPr>
            <a:r>
              <a:rPr dirty="0"/>
              <a:t>Check: EXPECT_TRUE(</a:t>
            </a:r>
            <a:r>
              <a:rPr dirty="0" err="1"/>
              <a:t>collection.empty</a:t>
            </a:r>
            <a:r>
              <a:rPr dirty="0"/>
              <a:t>()) and size == 0</a:t>
            </a:r>
          </a:p>
          <a:p>
            <a:pPr>
              <a:defRPr sz="1700" b="0">
                <a:solidFill>
                  <a:srgbClr val="F5F5F5"/>
                </a:solidFill>
                <a:latin typeface="Aptos"/>
              </a:defRPr>
            </a:pPr>
            <a:r>
              <a:rPr dirty="0"/>
              <a:t>Result: PASS in completed Module Four suite</a:t>
            </a:r>
          </a:p>
          <a:p>
            <a:pPr>
              <a:defRPr sz="1700" b="0">
                <a:solidFill>
                  <a:srgbClr val="F5F5F5"/>
                </a:solidFill>
                <a:latin typeface="Aptos"/>
              </a:defRPr>
            </a:pPr>
            <a:r>
              <a:rPr dirty="0"/>
              <a:t>Take further: run automatically on every build to catch initialization regressions.</a:t>
            </a:r>
          </a:p>
        </p:txBody>
      </p:sp>
      <p:pic>
        <p:nvPicPr>
          <p:cNvPr id="197" name="Google Shape;197;g9504e29505_0_0"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2" name="Picture 1">
            <a:extLst>
              <a:ext uri="{FF2B5EF4-FFF2-40B4-BE49-F238E27FC236}">
                <a16:creationId xmlns:a16="http://schemas.microsoft.com/office/drawing/2014/main" id="{00ED61AA-4523-42DE-2063-087FB44B6ED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953408" y="4075152"/>
            <a:ext cx="3440169" cy="221876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30504"/>
    </mc:Choice>
    <mc:Fallback xmlns="">
      <p:transition spd="slow" advTm="30504"/>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defRPr sz="3000" b="0">
                <a:solidFill>
                  <a:srgbClr val="F5F5F5"/>
                </a:solidFill>
                <a:latin typeface="Aptos"/>
              </a:defRPr>
            </a:pPr>
            <a:r>
              <a:t>Can values be added while preserving expected size?</a:t>
            </a: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defRPr sz="1700" b="0">
                <a:solidFill>
                  <a:srgbClr val="F5F5F5"/>
                </a:solidFill>
                <a:latin typeface="Aptos"/>
              </a:defRPr>
            </a:pPr>
            <a:r>
              <a:t>Vulnerability focus: container state correctness</a:t>
            </a:r>
          </a:p>
          <a:p>
            <a:pPr>
              <a:defRPr sz="1700" b="0">
                <a:solidFill>
                  <a:srgbClr val="F5F5F5"/>
                </a:solidFill>
                <a:latin typeface="Aptos"/>
              </a:defRPr>
            </a:pPr>
            <a:r>
              <a:t>Type: Positive</a:t>
            </a:r>
          </a:p>
          <a:p>
            <a:pPr>
              <a:defRPr sz="1700" b="0">
                <a:solidFill>
                  <a:srgbClr val="F5F5F5"/>
                </a:solidFill>
                <a:latin typeface="Aptos"/>
              </a:defRPr>
            </a:pPr>
            <a:r>
              <a:t>Framework: Google Test</a:t>
            </a:r>
          </a:p>
          <a:p>
            <a:pPr>
              <a:defRPr sz="1700" b="0">
                <a:solidFill>
                  <a:srgbClr val="F5F5F5"/>
                </a:solidFill>
                <a:latin typeface="Aptos"/>
              </a:defRPr>
            </a:pPr>
            <a:r>
              <a:t>Check: add values, then verify size and stored values</a:t>
            </a:r>
          </a:p>
          <a:p>
            <a:pPr>
              <a:defRPr sz="1700" b="0">
                <a:solidFill>
                  <a:srgbClr val="F5F5F5"/>
                </a:solidFill>
                <a:latin typeface="Aptos"/>
              </a:defRPr>
            </a:pPr>
            <a:r>
              <a:t>Result: PASS in completed Module Four suite</a:t>
            </a:r>
          </a:p>
          <a:p>
            <a:pPr>
              <a:defRPr sz="1700" b="0">
                <a:solidFill>
                  <a:srgbClr val="F5F5F5"/>
                </a:solidFill>
                <a:latin typeface="Aptos"/>
              </a:defRPr>
            </a:pPr>
            <a:r>
              <a:t>Take further: add boundary-size and repeated-operation cases.</a:t>
            </a:r>
          </a:p>
        </p:txBody>
      </p:sp>
      <p:pic>
        <p:nvPicPr>
          <p:cNvPr id="3" name="Picture 2">
            <a:extLst>
              <a:ext uri="{FF2B5EF4-FFF2-40B4-BE49-F238E27FC236}">
                <a16:creationId xmlns:a16="http://schemas.microsoft.com/office/drawing/2014/main" id="{B89F36C9-834E-C7CD-E940-9092033CA3E0}"/>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216093" y="3998259"/>
            <a:ext cx="3337688" cy="250115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0214"/>
    </mc:Choice>
    <mc:Fallback xmlns="">
      <p:transition spd="slow" advTm="20214"/>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defRPr sz="3000" b="0">
                <a:solidFill>
                  <a:srgbClr val="F5F5F5"/>
                </a:solidFill>
                <a:latin typeface="Aptos"/>
              </a:defRPr>
            </a:pPr>
            <a:r>
              <a:t>Does reserve increase capacity without changing logical size?</a:t>
            </a:r>
          </a:p>
        </p:txBody>
      </p:sp>
      <p:sp>
        <p:nvSpPr>
          <p:cNvPr id="196" name="Google Shape;196;g9504e29505_0_0"/>
          <p:cNvSpPr txBox="1">
            <a:spLocks noGrp="1"/>
          </p:cNvSpPr>
          <p:nvPr>
            <p:ph type="body" idx="1"/>
          </p:nvPr>
        </p:nvSpPr>
        <p:spPr>
          <a:xfrm>
            <a:off x="685800" y="1416900"/>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defRPr sz="1700" b="0">
                <a:solidFill>
                  <a:srgbClr val="F5F5F5"/>
                </a:solidFill>
                <a:latin typeface="Aptos"/>
              </a:defRPr>
            </a:pPr>
            <a:r>
              <a:rPr dirty="0"/>
              <a:t>Vulnerability focus: unsafe container assumptions</a:t>
            </a:r>
          </a:p>
          <a:p>
            <a:pPr>
              <a:defRPr sz="1700" b="0">
                <a:solidFill>
                  <a:srgbClr val="F5F5F5"/>
                </a:solidFill>
                <a:latin typeface="Aptos"/>
              </a:defRPr>
            </a:pPr>
            <a:r>
              <a:rPr dirty="0"/>
              <a:t>Type: Positive</a:t>
            </a:r>
          </a:p>
          <a:p>
            <a:pPr>
              <a:defRPr sz="1700" b="0">
                <a:solidFill>
                  <a:srgbClr val="F5F5F5"/>
                </a:solidFill>
                <a:latin typeface="Aptos"/>
              </a:defRPr>
            </a:pPr>
            <a:r>
              <a:rPr dirty="0"/>
              <a:t>Framework: Google Test</a:t>
            </a:r>
          </a:p>
          <a:p>
            <a:pPr>
              <a:defRPr sz="1700" b="0">
                <a:solidFill>
                  <a:srgbClr val="F5F5F5"/>
                </a:solidFill>
                <a:latin typeface="Aptos"/>
              </a:defRPr>
            </a:pPr>
            <a:r>
              <a:rPr dirty="0"/>
              <a:t>Check: reserve capacity; verify capacity &gt;= request AND size unchanged</a:t>
            </a:r>
          </a:p>
          <a:p>
            <a:pPr>
              <a:defRPr sz="1700" b="0">
                <a:solidFill>
                  <a:srgbClr val="F5F5F5"/>
                </a:solidFill>
                <a:latin typeface="Aptos"/>
              </a:defRPr>
            </a:pPr>
            <a:r>
              <a:rPr dirty="0"/>
              <a:t>Result: PASS in completed Module Four suite</a:t>
            </a:r>
          </a:p>
          <a:p>
            <a:pPr>
              <a:defRPr sz="1700" b="0">
                <a:solidFill>
                  <a:srgbClr val="F5F5F5"/>
                </a:solidFill>
                <a:latin typeface="Aptos"/>
              </a:defRPr>
            </a:pPr>
            <a:r>
              <a:rPr dirty="0"/>
              <a:t>Take further: test multiple reserve sizes and memory-pressure behavior.</a:t>
            </a:r>
          </a:p>
        </p:txBody>
      </p:sp>
    </p:spTree>
  </p:cSld>
  <p:clrMapOvr>
    <a:masterClrMapping/>
  </p:clrMapOvr>
  <mc:AlternateContent xmlns:mc="http://schemas.openxmlformats.org/markup-compatibility/2006" xmlns:p14="http://schemas.microsoft.com/office/powerpoint/2010/main">
    <mc:Choice Requires="p14">
      <p:transition spd="slow" p14:dur="2000" advTm="45236"/>
    </mc:Choice>
    <mc:Fallback xmlns="">
      <p:transition spd="slow" advTm="45236"/>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defRPr sz="3000" b="0">
                <a:solidFill>
                  <a:srgbClr val="F5F5F5"/>
                </a:solidFill>
                <a:latin typeface="Aptos"/>
              </a:defRPr>
            </a:pPr>
            <a:r>
              <a:t>Does at() reject an out-of-range index?</a:t>
            </a:r>
          </a:p>
        </p:txBody>
      </p:sp>
      <p:sp>
        <p:nvSpPr>
          <p:cNvPr id="196" name="Google Shape;196;g9504e29505_0_0"/>
          <p:cNvSpPr txBox="1">
            <a:spLocks noGrp="1"/>
          </p:cNvSpPr>
          <p:nvPr>
            <p:ph type="body" idx="1"/>
          </p:nvPr>
        </p:nvSpPr>
        <p:spPr>
          <a:xfrm>
            <a:off x="587188" y="1558066"/>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defRPr sz="1700" b="0">
                <a:solidFill>
                  <a:srgbClr val="F5F5F5"/>
                </a:solidFill>
                <a:latin typeface="Aptos"/>
              </a:defRPr>
            </a:pPr>
            <a:r>
              <a:rPr dirty="0"/>
              <a:t>Vulnerability focus: out-of-bounds access</a:t>
            </a:r>
          </a:p>
          <a:p>
            <a:pPr>
              <a:defRPr sz="1700" b="0">
                <a:solidFill>
                  <a:srgbClr val="F5F5F5"/>
                </a:solidFill>
                <a:latin typeface="Aptos"/>
              </a:defRPr>
            </a:pPr>
            <a:r>
              <a:rPr dirty="0"/>
              <a:t>Type: Negative</a:t>
            </a:r>
          </a:p>
          <a:p>
            <a:pPr>
              <a:defRPr sz="1700" b="0">
                <a:solidFill>
                  <a:srgbClr val="F5F5F5"/>
                </a:solidFill>
                <a:latin typeface="Aptos"/>
              </a:defRPr>
            </a:pPr>
            <a:r>
              <a:rPr dirty="0"/>
              <a:t>Framework: Google Test</a:t>
            </a:r>
          </a:p>
          <a:p>
            <a:pPr>
              <a:defRPr sz="1700" b="0">
                <a:solidFill>
                  <a:srgbClr val="F5F5F5"/>
                </a:solidFill>
                <a:latin typeface="Aptos"/>
              </a:defRPr>
            </a:pPr>
            <a:r>
              <a:rPr dirty="0"/>
              <a:t>Check: EXPECT_THROW(</a:t>
            </a:r>
            <a:r>
              <a:rPr dirty="0" err="1"/>
              <a:t>collection.at</a:t>
            </a:r>
            <a:r>
              <a:rPr dirty="0"/>
              <a:t>(</a:t>
            </a:r>
            <a:r>
              <a:rPr dirty="0" err="1"/>
              <a:t>invalidIndex</a:t>
            </a:r>
            <a:r>
              <a:rPr dirty="0"/>
              <a:t>), std::</a:t>
            </a:r>
            <a:r>
              <a:rPr dirty="0" err="1"/>
              <a:t>out_of_range</a:t>
            </a:r>
            <a:r>
              <a:rPr dirty="0"/>
              <a:t>)</a:t>
            </a:r>
          </a:p>
          <a:p>
            <a:pPr>
              <a:defRPr sz="1700" b="0">
                <a:solidFill>
                  <a:srgbClr val="F5F5F5"/>
                </a:solidFill>
                <a:latin typeface="Aptos"/>
              </a:defRPr>
            </a:pPr>
            <a:r>
              <a:rPr dirty="0"/>
              <a:t>Result: PASS in completed Module Four suite</a:t>
            </a:r>
          </a:p>
          <a:p>
            <a:pPr>
              <a:defRPr sz="1700" b="0">
                <a:solidFill>
                  <a:srgbClr val="F5F5F5"/>
                </a:solidFill>
                <a:latin typeface="Aptos"/>
              </a:defRPr>
            </a:pPr>
            <a:r>
              <a:rPr dirty="0"/>
              <a:t>Take further: pair with fuzzed/boundary indexes and sanitizer runs.</a:t>
            </a:r>
          </a:p>
        </p:txBody>
      </p:sp>
      <p:pic>
        <p:nvPicPr>
          <p:cNvPr id="197" name="Google Shape;197;g9504e29505_0_0" descr="Green Pace logo"/>
          <p:cNvPicPr preferRelativeResize="0"/>
          <p:nvPr/>
        </p:nvPicPr>
        <p:blipFill>
          <a:blip>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354F0F5B-C302-2EBC-EA6C-E8F822BFE4EF}"/>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732747" y="3570166"/>
            <a:ext cx="3468153" cy="270734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26909"/>
    </mc:Choice>
    <mc:Fallback xmlns="">
      <p:transition spd="slow" advTm="26909"/>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defRPr sz="3000" b="0">
                <a:solidFill>
                  <a:srgbClr val="F5F5F5"/>
                </a:solidFill>
                <a:latin typeface="Aptos"/>
              </a:defRPr>
            </a:pPr>
            <a:r>
              <a:t>How should negative testing be strengthened?</a:t>
            </a:r>
          </a:p>
        </p:txBody>
      </p:sp>
      <p:sp>
        <p:nvSpPr>
          <p:cNvPr id="196" name="Google Shape;196;g9504e29505_0_0"/>
          <p:cNvSpPr txBox="1">
            <a:spLocks noGrp="1"/>
          </p:cNvSpPr>
          <p:nvPr>
            <p:ph type="body" idx="1"/>
          </p:nvPr>
        </p:nvSpPr>
        <p:spPr>
          <a:xfrm>
            <a:off x="605118" y="1629784"/>
            <a:ext cx="10820400" cy="40242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1000"/>
              </a:spcBef>
              <a:spcAft>
                <a:spcPts val="0"/>
              </a:spcAft>
              <a:buSzPts val="1800"/>
              <a:buNone/>
              <a:defRPr sz="1700" b="0">
                <a:solidFill>
                  <a:srgbClr val="F5F5F5"/>
                </a:solidFill>
                <a:latin typeface="Aptos"/>
              </a:defRPr>
            </a:pPr>
            <a:r>
              <a:rPr dirty="0"/>
              <a:t>Module Four feedback showed the two custom negative tests exercised the same exception condition.</a:t>
            </a:r>
          </a:p>
          <a:p>
            <a:pPr>
              <a:defRPr sz="1700" b="0">
                <a:solidFill>
                  <a:srgbClr val="F5F5F5"/>
                </a:solidFill>
                <a:latin typeface="Aptos"/>
              </a:defRPr>
            </a:pPr>
            <a:endParaRPr dirty="0"/>
          </a:p>
          <a:p>
            <a:pPr>
              <a:defRPr sz="1700" b="0">
                <a:solidFill>
                  <a:srgbClr val="F5F5F5"/>
                </a:solidFill>
                <a:latin typeface="Aptos"/>
              </a:defRPr>
            </a:pPr>
            <a:r>
              <a:rPr dirty="0"/>
              <a:t>Improvement: add a DISTINCT failure mode, such as invalid input rejected with a failure return/status rather than repeating the same out-of-range exception.</a:t>
            </a:r>
          </a:p>
          <a:p>
            <a:pPr>
              <a:defRPr sz="1700" b="0">
                <a:solidFill>
                  <a:srgbClr val="F5F5F5"/>
                </a:solidFill>
                <a:latin typeface="Aptos"/>
              </a:defRPr>
            </a:pPr>
            <a:endParaRPr dirty="0"/>
          </a:p>
          <a:p>
            <a:pPr>
              <a:defRPr sz="1700" b="0">
                <a:solidFill>
                  <a:srgbClr val="F5F5F5"/>
                </a:solidFill>
                <a:latin typeface="Aptos"/>
              </a:defRPr>
            </a:pPr>
            <a:r>
              <a:rPr dirty="0"/>
              <a:t>This strengthens graceful-failure coverage and directly addresses instructor feedback.</a:t>
            </a:r>
          </a:p>
        </p:txBody>
      </p:sp>
      <p:pic>
        <p:nvPicPr>
          <p:cNvPr id="197" name="Google Shape;197;g9504e29505_0_0" descr="Green Pace logo"/>
          <p:cNvPicPr preferRelativeResize="0"/>
          <p:nvPr/>
        </p:nvPicPr>
        <p:blipFill>
          <a:blip>
            <a:alphaModFix/>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649AC2D5-D49B-1479-F6D0-82FBB5046A1A}"/>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3833468" y="3361765"/>
            <a:ext cx="3609647" cy="330797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7408"/>
    </mc:Choice>
    <mc:Fallback xmlns="">
      <p:transition spd="slow" advTm="47408"/>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defRPr sz="3000" b="0">
                <a:solidFill>
                  <a:srgbClr val="F5F5F5"/>
                </a:solidFill>
                <a:latin typeface="Aptos"/>
              </a:defRPr>
            </a:pPr>
            <a:r>
              <a:t>AUTOMATION SUMMARY</a:t>
            </a: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
        <p:nvSpPr>
          <p:cNvPr id="205" name="Rounded Rectangle 204"/>
          <p:cNvSpPr/>
          <p:nvPr/>
        </p:nvSpPr>
        <p:spPr>
          <a:xfrm>
            <a:off x="1005840" y="5989320"/>
            <a:ext cx="7406640" cy="594360"/>
          </a:xfrm>
          <a:prstGeom prst="roundRect">
            <a:avLst/>
          </a:prstGeom>
          <a:solidFill>
            <a:srgbClr val="141414"/>
          </a:solidFill>
          <a:ln>
            <a:solidFill>
              <a:srgbClr val="50505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500" b="0">
                <a:solidFill>
                  <a:srgbClr val="F5F5F5"/>
                </a:solidFill>
                <a:latin typeface="Aptos"/>
              </a:defRPr>
            </a:pPr>
            <a:r>
              <a:t>Security gates move left: Create/Build → Verify/Test → Pre-production → Production monitoring</a:t>
            </a: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2590"/>
    </mc:Choice>
    <mc:Fallback xmlns="">
      <p:transition spd="slow" advTm="6259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752165" y="163738"/>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dirty="0"/>
              <a:t>TOOLS</a:t>
            </a:r>
            <a:endParaRPr dirty="0"/>
          </a:p>
        </p:txBody>
      </p:sp>
      <p:sp>
        <p:nvSpPr>
          <p:cNvPr id="210" name="Google Shape;210;p10"/>
          <p:cNvSpPr txBox="1">
            <a:spLocks noGrp="1"/>
          </p:cNvSpPr>
          <p:nvPr>
            <p:ph type="body" idx="1"/>
          </p:nvPr>
        </p:nvSpPr>
        <p:spPr>
          <a:xfrm>
            <a:off x="263674" y="1211263"/>
            <a:ext cx="10820400" cy="4024125"/>
          </a:xfrm>
          <a:prstGeom prst="rect">
            <a:avLst/>
          </a:prstGeom>
          <a:noFill/>
          <a:ln>
            <a:noFill/>
          </a:ln>
        </p:spPr>
        <p:txBody>
          <a:bodyPr spcFirstLastPara="1" wrap="square" lIns="91425" tIns="45700" rIns="91425" bIns="45700" anchor="t" anchorCtr="0">
            <a:normAutofit/>
          </a:bodyPr>
          <a:lstStyle/>
          <a:p>
            <a:pPr marL="685800" lvl="1" indent="-228600" algn="l" rtl="0">
              <a:lnSpc>
                <a:spcPct val="90000"/>
              </a:lnSpc>
              <a:spcBef>
                <a:spcPts val="0"/>
              </a:spcBef>
              <a:spcAft>
                <a:spcPts val="0"/>
              </a:spcAft>
              <a:buClr>
                <a:schemeClr val="lt1"/>
              </a:buClr>
              <a:buSzPts val="2000"/>
              <a:buChar char="•"/>
              <a:defRPr sz="1700" b="0">
                <a:solidFill>
                  <a:srgbClr val="F5F5F5"/>
                </a:solidFill>
                <a:latin typeface="Aptos"/>
              </a:defRPr>
            </a:pPr>
            <a:r>
              <a:rPr dirty="0"/>
              <a:t>CREATE / BUILD — Compiler warnings, Visual Studio code analysis, local </a:t>
            </a:r>
            <a:r>
              <a:rPr dirty="0" err="1"/>
              <a:t>Cppcheck</a:t>
            </a:r>
            <a:r>
              <a:rPr dirty="0"/>
              <a:t>.</a:t>
            </a:r>
            <a:endParaRPr sz="1600" dirty="0"/>
          </a:p>
          <a:p>
            <a:pPr>
              <a:defRPr sz="1700" b="0">
                <a:solidFill>
                  <a:srgbClr val="F5F5F5"/>
                </a:solidFill>
                <a:latin typeface="Aptos"/>
              </a:defRPr>
            </a:pPr>
            <a:r>
              <a:rPr dirty="0"/>
              <a:t>VERIFY / TEST — CI runs </a:t>
            </a:r>
            <a:r>
              <a:rPr dirty="0" err="1"/>
              <a:t>Cppcheck</a:t>
            </a:r>
            <a:r>
              <a:rPr dirty="0"/>
              <a:t>/SAST, Google Test positive/negative tests, and selected sanitizers. High-priority failures block merge/release.</a:t>
            </a:r>
          </a:p>
          <a:p>
            <a:pPr>
              <a:defRPr sz="1700" b="0">
                <a:solidFill>
                  <a:srgbClr val="F5F5F5"/>
                </a:solidFill>
                <a:latin typeface="Aptos"/>
              </a:defRPr>
            </a:pPr>
            <a:r>
              <a:rPr dirty="0"/>
              <a:t>PRE-PRODUCTION / RELEASE — Preserve test and analysis reports as audit evidence.</a:t>
            </a:r>
          </a:p>
          <a:p>
            <a:pPr>
              <a:defRPr sz="1700" b="0">
                <a:solidFill>
                  <a:srgbClr val="F5F5F5"/>
                </a:solidFill>
                <a:latin typeface="Aptos"/>
              </a:defRPr>
            </a:pPr>
            <a:r>
              <a:rPr dirty="0"/>
              <a:t>PRODUCTION — Protected logs, monitoring, and alerting verify controls remain effective.</a:t>
            </a:r>
          </a:p>
          <a:p>
            <a:pPr>
              <a:defRPr sz="1700" b="0">
                <a:solidFill>
                  <a:srgbClr val="F5F5F5"/>
                </a:solidFill>
                <a:latin typeface="Aptos"/>
              </a:defRPr>
            </a:pPr>
            <a:endParaRPr dirty="0"/>
          </a:p>
          <a:p>
            <a:pPr>
              <a:defRPr sz="1700" b="0">
                <a:solidFill>
                  <a:srgbClr val="F5F5F5"/>
                </a:solidFill>
                <a:latin typeface="Aptos"/>
              </a:defRPr>
            </a:pPr>
            <a:r>
              <a:rPr dirty="0"/>
              <a:t>External testing evidence used in this course: </a:t>
            </a:r>
            <a:r>
              <a:rPr dirty="0" err="1"/>
              <a:t>Cppcheck</a:t>
            </a:r>
            <a:r>
              <a:rPr dirty="0"/>
              <a:t> 2.22.0 and Visual Studio code analysis; unit testing uses Google Test.</a:t>
            </a:r>
          </a:p>
        </p:txBody>
      </p:sp>
      <p:pic>
        <p:nvPicPr>
          <p:cNvPr id="211" name="Google Shape;211;p10"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pic>
        <p:nvPicPr>
          <p:cNvPr id="3" name="Picture 2">
            <a:extLst>
              <a:ext uri="{FF2B5EF4-FFF2-40B4-BE49-F238E27FC236}">
                <a16:creationId xmlns:a16="http://schemas.microsoft.com/office/drawing/2014/main" id="{A8DCD75C-1CE7-A1F6-F56F-B03291FF468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270967" y="3550023"/>
            <a:ext cx="5650066" cy="3245224"/>
          </a:xfrm>
          <a:prstGeom prst="rect">
            <a:avLst/>
          </a:prstGeom>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315"/>
    </mc:Choice>
    <mc:Fallback xmlns="">
      <p:transition spd="slow" advTm="56315"/>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000"/>
              <a:buChar char="•"/>
              <a:defRPr sz="1600" b="0">
                <a:solidFill>
                  <a:srgbClr val="F5F5F5"/>
                </a:solidFill>
                <a:latin typeface="Aptos"/>
              </a:defRPr>
            </a:pPr>
            <a:r>
              <a:t>ACT NOW</a:t>
            </a:r>
          </a:p>
          <a:p>
            <a:pPr>
              <a:defRPr sz="1600" b="0">
                <a:solidFill>
                  <a:srgbClr val="F5F5F5"/>
                </a:solidFill>
                <a:latin typeface="Aptos"/>
              </a:defRPr>
            </a:pPr>
            <a:r>
              <a:t>• Fix SQL injection first: Level 5, direct path to unauthorized database operations.</a:t>
            </a:r>
          </a:p>
          <a:p>
            <a:pPr>
              <a:defRPr sz="1600" b="0">
                <a:solidFill>
                  <a:srgbClr val="F5F5F5"/>
                </a:solidFill>
                <a:latin typeface="Aptos"/>
              </a:defRPr>
            </a:pPr>
            <a:r>
              <a:t>• Next address out-of-bounds/string/input/integer/memory/exception issues: mostly Level 4.</a:t>
            </a:r>
          </a:p>
          <a:p>
            <a:pPr>
              <a:defRPr sz="1600" b="0">
                <a:solidFill>
                  <a:srgbClr val="F5F5F5"/>
                </a:solidFill>
                <a:latin typeface="Aptos"/>
              </a:defRPr>
            </a:pPr>
            <a:r>
              <a:t>• Automate checks so defects are blocked before release.</a:t>
            </a:r>
          </a:p>
          <a:p>
            <a:pPr>
              <a:defRPr sz="1600" b="0">
                <a:solidFill>
                  <a:srgbClr val="F5F5F5"/>
                </a:solidFill>
                <a:latin typeface="Aptos"/>
              </a:defRPr>
            </a:pPr>
            <a:endParaRPr/>
          </a:p>
          <a:p>
            <a:pPr>
              <a:defRPr sz="1600" b="0">
                <a:solidFill>
                  <a:srgbClr val="F5F5F5"/>
                </a:solidFill>
                <a:latin typeface="Aptos"/>
              </a:defRPr>
            </a:pPr>
            <a:r>
              <a:t>IF WE WAIT</a:t>
            </a:r>
          </a:p>
          <a:p>
            <a:pPr>
              <a:defRPr sz="1600" b="0">
                <a:solidFill>
                  <a:srgbClr val="F5F5F5"/>
                </a:solidFill>
                <a:latin typeface="Aptos"/>
              </a:defRPr>
            </a:pPr>
            <a:r>
              <a:t>• Vulnerabilities become more expensive to correct after integration or deployment.</a:t>
            </a:r>
          </a:p>
          <a:p>
            <a:pPr>
              <a:defRPr sz="1600" b="0">
                <a:solidFill>
                  <a:srgbClr val="F5F5F5"/>
                </a:solidFill>
                <a:latin typeface="Aptos"/>
              </a:defRPr>
            </a:pPr>
            <a:r>
              <a:t>• Repeated manual checks can be skipped or applied inconsistently.</a:t>
            </a:r>
          </a:p>
          <a:p>
            <a:pPr>
              <a:defRPr sz="1600" b="0">
                <a:solidFill>
                  <a:srgbClr val="F5F5F5"/>
                </a:solidFill>
                <a:latin typeface="Aptos"/>
              </a:defRPr>
            </a:pPr>
            <a:endParaRPr/>
          </a:p>
          <a:p>
            <a:pPr>
              <a:defRPr sz="1600" b="0">
                <a:solidFill>
                  <a:srgbClr val="F5F5F5"/>
                </a:solidFill>
                <a:latin typeface="Aptos"/>
              </a:defRPr>
            </a:pPr>
            <a:r>
              <a:t>TRADEOFF</a:t>
            </a:r>
          </a:p>
          <a:p>
            <a:pPr>
              <a:defRPr sz="1600" b="0">
                <a:solidFill>
                  <a:srgbClr val="F5F5F5"/>
                </a:solidFill>
                <a:latin typeface="Aptos"/>
              </a:defRPr>
            </a:pPr>
            <a:r>
              <a:t>Automation can create false positives/noise, so findings still require developer review and documented exceptions.</a:t>
            </a:r>
          </a:p>
        </p:txBody>
      </p:sp>
      <p:pic>
        <p:nvPicPr>
          <p:cNvPr id="218" name="Google Shape;218;p11"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61556"/>
    </mc:Choice>
    <mc:Fallback xmlns="">
      <p:transition spd="slow" advTm="61556"/>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1143000" lvl="2" indent="-228600" algn="l" rtl="0">
              <a:lnSpc>
                <a:spcPct val="90000"/>
              </a:lnSpc>
              <a:spcBef>
                <a:spcPts val="0"/>
              </a:spcBef>
              <a:spcAft>
                <a:spcPts val="0"/>
              </a:spcAft>
              <a:buClr>
                <a:schemeClr val="lt1"/>
              </a:buClr>
              <a:buSzPts val="1800"/>
              <a:buChar char="•"/>
              <a:defRPr sz="1700" b="0">
                <a:solidFill>
                  <a:srgbClr val="F5F5F5"/>
                </a:solidFill>
                <a:latin typeface="Aptos"/>
              </a:defRPr>
            </a:pPr>
            <a:r>
              <a:t>Current gaps and improvements</a:t>
            </a:r>
            <a:endParaRPr sz="1400"/>
          </a:p>
          <a:p>
            <a:pPr>
              <a:defRPr sz="1700" b="0">
                <a:solidFill>
                  <a:srgbClr val="F5F5F5"/>
                </a:solidFill>
                <a:latin typeface="Aptos"/>
              </a:defRPr>
            </a:pPr>
            <a:r>
              <a:t>• Expand distinct negative tests beyond repeated exception cases.</a:t>
            </a:r>
          </a:p>
          <a:p>
            <a:pPr>
              <a:defRPr sz="1700" b="0">
                <a:solidFill>
                  <a:srgbClr val="F5F5F5"/>
                </a:solidFill>
                <a:latin typeface="Aptos"/>
              </a:defRPr>
            </a:pPr>
            <a:r>
              <a:t>• Add dynamic analysis/sanitizers and dependency scanning to complement static analysis.</a:t>
            </a:r>
          </a:p>
          <a:p>
            <a:pPr>
              <a:defRPr sz="1700" b="0">
                <a:solidFill>
                  <a:srgbClr val="F5F5F5"/>
                </a:solidFill>
                <a:latin typeface="Aptos"/>
              </a:defRPr>
            </a:pPr>
            <a:r>
              <a:t>• Define measurable security gates and exception-expiration dates in CI/CD.</a:t>
            </a:r>
          </a:p>
          <a:p>
            <a:pPr>
              <a:defRPr sz="1700" b="0">
                <a:solidFill>
                  <a:srgbClr val="F5F5F5"/>
                </a:solidFill>
                <a:latin typeface="Aptos"/>
              </a:defRPr>
            </a:pPr>
            <a:r>
              <a:t>• Review cryptographic configuration and key rotation on a scheduled basis.</a:t>
            </a:r>
          </a:p>
          <a:p>
            <a:pPr>
              <a:defRPr sz="1700" b="0">
                <a:solidFill>
                  <a:srgbClr val="F5F5F5"/>
                </a:solidFill>
                <a:latin typeface="Aptos"/>
              </a:defRPr>
            </a:pPr>
            <a:r>
              <a:t>• Test authorization at every protected operation, not only at login.</a:t>
            </a:r>
          </a:p>
          <a:p>
            <a:pPr>
              <a:defRPr sz="1700" b="0">
                <a:solidFill>
                  <a:srgbClr val="F5F5F5"/>
                </a:solidFill>
                <a:latin typeface="Aptos"/>
              </a:defRPr>
            </a:pPr>
            <a:r>
              <a:t>• Correlate application audit events with existing OS, firewall, and anti-malware logs.</a:t>
            </a:r>
          </a:p>
        </p:txBody>
      </p:sp>
      <p:pic>
        <p:nvPicPr>
          <p:cNvPr id="225" name="Google Shape;225;p12"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8631"/>
    </mc:Choice>
    <mc:Fallback xmlns="">
      <p:transition spd="slow" advTm="5863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defRPr sz="1600" b="0">
                <a:solidFill>
                  <a:srgbClr val="F5F5F5"/>
                </a:solidFill>
                <a:latin typeface="Aptos"/>
              </a:defRPr>
            </a:pPr>
            <a:r>
              <a:t>Adopt and continuously enforce:</a:t>
            </a:r>
            <a:endParaRPr sz="1800"/>
          </a:p>
          <a:p>
            <a:pPr>
              <a:defRPr sz="1600" b="0">
                <a:solidFill>
                  <a:srgbClr val="F5F5F5"/>
                </a:solidFill>
                <a:latin typeface="Aptos"/>
              </a:defRPr>
            </a:pPr>
            <a:r>
              <a:t>• SEI CERT C++ secure coding guidance, including STR53-CPP range checking.</a:t>
            </a:r>
          </a:p>
          <a:p>
            <a:pPr>
              <a:defRPr sz="1600" b="0">
                <a:solidFill>
                  <a:srgbClr val="F5F5F5"/>
                </a:solidFill>
                <a:latin typeface="Aptos"/>
              </a:defRPr>
            </a:pPr>
            <a:r>
              <a:t>• Parameterized SQL and strict input/range validation.</a:t>
            </a:r>
          </a:p>
          <a:p>
            <a:pPr>
              <a:defRPr sz="1600" b="0">
                <a:solidFill>
                  <a:srgbClr val="F5F5F5"/>
                </a:solidFill>
                <a:latin typeface="Aptos"/>
              </a:defRPr>
            </a:pPr>
            <a:r>
              <a:t>• RAII and safe resource ownership.</a:t>
            </a:r>
          </a:p>
          <a:p>
            <a:pPr>
              <a:defRPr sz="1600" b="0">
                <a:solidFill>
                  <a:srgbClr val="F5F5F5"/>
                </a:solidFill>
                <a:latin typeface="Aptos"/>
              </a:defRPr>
            </a:pPr>
            <a:r>
              <a:t>• Runtime validation instead of security-critical assertions.</a:t>
            </a:r>
          </a:p>
          <a:p>
            <a:pPr>
              <a:defRPr sz="1600" b="0">
                <a:solidFill>
                  <a:srgbClr val="F5F5F5"/>
                </a:solidFill>
                <a:latin typeface="Aptos"/>
              </a:defRPr>
            </a:pPr>
            <a:r>
              <a:t>• TLS 1.2+ in flight and approved strong encryption at rest.</a:t>
            </a:r>
          </a:p>
          <a:p>
            <a:pPr>
              <a:defRPr sz="1600" b="0">
                <a:solidFill>
                  <a:srgbClr val="F5F5F5"/>
                </a:solidFill>
                <a:latin typeface="Aptos"/>
              </a:defRPr>
            </a:pPr>
            <a:r>
              <a:t>• Default deny, least privilege, MFA, and protected audit logging.</a:t>
            </a:r>
          </a:p>
          <a:p>
            <a:pPr>
              <a:defRPr sz="1600" b="0">
                <a:solidFill>
                  <a:srgbClr val="F5F5F5"/>
                </a:solidFill>
                <a:latin typeface="Aptos"/>
              </a:defRPr>
            </a:pPr>
            <a:r>
              <a:t>• Automated static analysis + unit/negative testing in CI/CD.</a:t>
            </a:r>
          </a:p>
          <a:p>
            <a:pPr>
              <a:defRPr sz="1600" b="0">
                <a:solidFill>
                  <a:srgbClr val="F5F5F5"/>
                </a:solidFill>
                <a:latin typeface="Aptos"/>
              </a:defRPr>
            </a:pPr>
            <a:endParaRPr/>
          </a:p>
          <a:p>
            <a:pPr>
              <a:defRPr sz="1600" b="0">
                <a:solidFill>
                  <a:srgbClr val="F5F5F5"/>
                </a:solidFill>
                <a:latin typeface="Aptos"/>
              </a:defRPr>
            </a:pPr>
            <a:r>
              <a:t>Security should be intrinsic to development—not a final-stage activity.</a:t>
            </a:r>
          </a:p>
        </p:txBody>
      </p:sp>
      <p:pic>
        <p:nvPicPr>
          <p:cNvPr id="232" name="Google Shape;232;p13"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3466"/>
    </mc:Choice>
    <mc:Fallback xmlns="">
      <p:transition spd="slow" advTm="53466"/>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lt1"/>
              </a:buClr>
              <a:buSzPts val="2200"/>
              <a:buChar char="•"/>
              <a:defRPr sz="1300" b="0">
                <a:solidFill>
                  <a:srgbClr val="F5F5F5"/>
                </a:solidFill>
                <a:latin typeface="Aptos"/>
              </a:defRPr>
            </a:pPr>
            <a:r>
              <a:t>Carnegie Mellon University Software Engineering Institute. (n.d.). SEI CERT C++ Coding Standard: STR53-CPP, Range check element access.</a:t>
            </a:r>
          </a:p>
          <a:p>
            <a:pPr>
              <a:defRPr sz="1300" b="0">
                <a:solidFill>
                  <a:srgbClr val="F5F5F5"/>
                </a:solidFill>
                <a:latin typeface="Aptos"/>
              </a:defRPr>
            </a:pPr>
            <a:r>
              <a:t>https://cmu-sei.github.io/secure-coding-standards/sei-cert-cpp-coding-standard/rules/characters-and-strings-str/str53-cpp/</a:t>
            </a:r>
          </a:p>
          <a:p>
            <a:pPr>
              <a:defRPr sz="1300" b="0">
                <a:solidFill>
                  <a:srgbClr val="F5F5F5"/>
                </a:solidFill>
                <a:latin typeface="Aptos"/>
              </a:defRPr>
            </a:pPr>
            <a:endParaRPr/>
          </a:p>
          <a:p>
            <a:pPr>
              <a:defRPr sz="1300" b="0">
                <a:solidFill>
                  <a:srgbClr val="F5F5F5"/>
                </a:solidFill>
                <a:latin typeface="Aptos"/>
              </a:defRPr>
            </a:pPr>
            <a:r>
              <a:t>National Institute of Standards and Technology. (2020). Security and Privacy Controls for Information Systems and Organizations (SP 800-53 Rev. 5).</a:t>
            </a:r>
          </a:p>
          <a:p>
            <a:pPr>
              <a:defRPr sz="1300" b="0">
                <a:solidFill>
                  <a:srgbClr val="F5F5F5"/>
                </a:solidFill>
                <a:latin typeface="Aptos"/>
              </a:defRPr>
            </a:pPr>
            <a:r>
              <a:t>https://csrc.nist.gov/pubs/sp/800/53/r5/upd1/final</a:t>
            </a:r>
          </a:p>
          <a:p>
            <a:pPr>
              <a:defRPr sz="1300" b="0">
                <a:solidFill>
                  <a:srgbClr val="F5F5F5"/>
                </a:solidFill>
                <a:latin typeface="Aptos"/>
              </a:defRPr>
            </a:pPr>
            <a:endParaRPr/>
          </a:p>
          <a:p>
            <a:pPr>
              <a:defRPr sz="1300" b="0">
                <a:solidFill>
                  <a:srgbClr val="F5F5F5"/>
                </a:solidFill>
                <a:latin typeface="Aptos"/>
              </a:defRPr>
            </a:pPr>
            <a:r>
              <a:t>OWASP Foundation. (n.d.). OWASP Cheat Sheet Series.</a:t>
            </a:r>
          </a:p>
          <a:p>
            <a:pPr>
              <a:defRPr sz="1300" b="0">
                <a:solidFill>
                  <a:srgbClr val="F5F5F5"/>
                </a:solidFill>
                <a:latin typeface="Aptos"/>
              </a:defRPr>
            </a:pPr>
            <a:r>
              <a:t>https://cheatsheetseries.owasp.org/</a:t>
            </a:r>
          </a:p>
          <a:p>
            <a:pPr>
              <a:defRPr sz="1300" b="0">
                <a:solidFill>
                  <a:srgbClr val="F5F5F5"/>
                </a:solidFill>
                <a:latin typeface="Aptos"/>
              </a:defRPr>
            </a:pPr>
            <a:endParaRPr/>
          </a:p>
          <a:p>
            <a:pPr>
              <a:defRPr sz="1300" b="0">
                <a:solidFill>
                  <a:srgbClr val="F5F5F5"/>
                </a:solidFill>
                <a:latin typeface="Aptos"/>
              </a:defRPr>
            </a:pPr>
            <a:r>
              <a:t>Google. (n.d.). GoogleTest documentation.</a:t>
            </a:r>
          </a:p>
          <a:p>
            <a:pPr>
              <a:defRPr sz="1300" b="0">
                <a:solidFill>
                  <a:srgbClr val="F5F5F5"/>
                </a:solidFill>
                <a:latin typeface="Aptos"/>
              </a:defRPr>
            </a:pPr>
            <a:r>
              <a:t>https://google.github.io/googletest/</a:t>
            </a:r>
          </a:p>
        </p:txBody>
      </p:sp>
      <p:pic>
        <p:nvPicPr>
          <p:cNvPr id="239" name="Google Shape;239;p14" descr="Green Pace logo"/>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084074" y="5440526"/>
            <a:ext cx="886601" cy="1149225"/>
          </a:xfrm>
          <a:prstGeom prst="rect">
            <a:avLst/>
          </a:prstGeom>
          <a:noFill/>
          <a:ln>
            <a:noFill/>
          </a:ln>
        </p:spPr>
      </p:pic>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7109"/>
    </mc:Choice>
    <mc:Fallback xmlns="">
      <p:transition spd="slow" advTm="7109"/>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2.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2071</TotalTime>
  <Words>2746</Words>
  <Application>Microsoft Macintosh PowerPoint</Application>
  <PresentationFormat>Widescreen</PresentationFormat>
  <Paragraphs>154</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Does a new collection start empty?</vt:lpstr>
      <vt:lpstr>Can values be added while preserving expected size?</vt:lpstr>
      <vt:lpstr>Does reserve increase capacity without changing logical size?</vt:lpstr>
      <vt:lpstr>Does at() reject an out-of-range index?</vt:lpstr>
      <vt:lpstr>How should negative testing be strengthened?</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Kousse Akodjo, Lufranc</cp:lastModifiedBy>
  <cp:revision>11</cp:revision>
  <dcterms:created xsi:type="dcterms:W3CDTF">2020-08-19T17:59:24Z</dcterms:created>
  <dcterms:modified xsi:type="dcterms:W3CDTF">2026-10-21T22:00:18Z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